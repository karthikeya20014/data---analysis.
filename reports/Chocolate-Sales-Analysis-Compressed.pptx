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aleway"/>
      <p:regular r:id="rId21"/>
    </p:embeddedFont>
    <p:embeddedFont>
      <p:font typeface="Raleway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g"/><Relationship Id="rId2" Type="http://schemas.openxmlformats.org/officeDocument/2006/relationships/image" Target="../media/image-1002-2.jp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g"/><Relationship Id="rId2" Type="http://schemas.openxmlformats.org/officeDocument/2006/relationships/image" Target="../media/image-1003-2.jp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g"/><Relationship Id="rId2" Type="http://schemas.openxmlformats.org/officeDocument/2006/relationships/image" Target="../media/image-1004-2.jp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g"/><Relationship Id="rId2" Type="http://schemas.openxmlformats.org/officeDocument/2006/relationships/image" Target="../media/image-1005-2.jp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g"/><Relationship Id="rId2" Type="http://schemas.openxmlformats.org/officeDocument/2006/relationships/image" Target="../media/image-1006-2.jp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jpg"/><Relationship Id="rId2" Type="http://schemas.openxmlformats.org/officeDocument/2006/relationships/image" Target="../media/image-1007-2.jp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jpg"/><Relationship Id="rId2" Type="http://schemas.openxmlformats.org/officeDocument/2006/relationships/image" Target="../media/image-1008-2.jp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jpg"/><Relationship Id="rId2" Type="http://schemas.openxmlformats.org/officeDocument/2006/relationships/image" Target="../media/image-1009-2.jp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jpg"/><Relationship Id="rId2" Type="http://schemas.openxmlformats.org/officeDocument/2006/relationships/image" Target="../media/image-1010-2.jp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jpg"/><Relationship Id="rId2" Type="http://schemas.openxmlformats.org/officeDocument/2006/relationships/image" Target="../media/image-1011-2.jp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svg"/><Relationship Id="rId3" Type="http://schemas.openxmlformats.org/officeDocument/2006/relationships/image" Target="../media/image-9-3.jpg"/><Relationship Id="rId4" Type="http://schemas.openxmlformats.org/officeDocument/2006/relationships/image" Target="../media/image-9-4.svg"/><Relationship Id="rId5" Type="http://schemas.openxmlformats.org/officeDocument/2006/relationships/image" Target="../media/image-9-5.jpg"/><Relationship Id="rId6" Type="http://schemas.openxmlformats.org/officeDocument/2006/relationships/image" Target="../media/image-9-6.svg"/><Relationship Id="rId7" Type="http://schemas.openxmlformats.org/officeDocument/2006/relationships/image" Target="../media/image-9-7.jp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svg"/><Relationship Id="rId4" Type="http://schemas.openxmlformats.org/officeDocument/2006/relationships/image" Target="../media/image-10-4.jpg"/><Relationship Id="rId5" Type="http://schemas.openxmlformats.org/officeDocument/2006/relationships/image" Target="../media/image-10-5.svg"/><Relationship Id="rId6" Type="http://schemas.openxmlformats.org/officeDocument/2006/relationships/image" Target="../media/image-10-6.jp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5219"/>
            <a:ext cx="67226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Chocolate Sales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5416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data-driven deep dive into global chocolate sales — uncovering top brands, best-performing markets, and seasonal trends to boost supply chain and distribution strategy.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098018"/>
            <a:ext cx="2766655" cy="426244"/>
          </a:xfrm>
          <a:prstGeom prst="roundRect">
            <a:avLst>
              <a:gd name="adj" fmla="val 6386"/>
            </a:avLst>
          </a:prstGeom>
          <a:solidFill>
            <a:srgbClr val="443D09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166003"/>
            <a:ext cx="2494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· EDA · KAGGLE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23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904173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and optimize a multi-country chocolate supply chain by analyzing sales data — tracking brands, products, countries, and revenue to enhance distribution and boost sales.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945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52664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 transactions · 9 columns · sourced from Kaggle. Covers Brand, Product Type, Country, Sales Channel, Payment Method, Units Sold, Price, and Revenue.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6978"/>
            <a:ext cx="6392585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Approach &amp; Methodology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1601867"/>
            <a:ext cx="13191649" cy="52041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71518" y="3404197"/>
            <a:ext cx="2624224" cy="71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71518" y="4219829"/>
            <a:ext cx="2624224" cy="54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 and standardize data in Excel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034045" y="4000450"/>
            <a:ext cx="2624223" cy="357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Setup &amp; EDA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34045" y="4459044"/>
            <a:ext cx="2624223" cy="5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 to SQL and explore key parameters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334655" y="3404197"/>
            <a:ext cx="2624223" cy="71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Descriptive &amp; Diagnostic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334655" y="4219829"/>
            <a:ext cx="2624223" cy="54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Revenue, Units, and Price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19376" y="7015520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After preprocessing in Excel, a SQL database was created, data imported, and key parameters — Revenue, Units Sold, and Average Price — were analyzed across Brand, Product Type, Country, and Month.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2294"/>
            <a:ext cx="74609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Country-Wise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11235"/>
            <a:ext cx="7556421" cy="1314569"/>
          </a:xfrm>
          <a:prstGeom prst="roundRect">
            <a:avLst>
              <a:gd name="adj" fmla="val 258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3804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🥇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France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$89,956.88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revenue · 6,410 units · 58 transactions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314569"/>
          </a:xfrm>
          <a:prstGeom prst="roundRect">
            <a:avLst>
              <a:gd name="adj" fmla="val 258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497943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🔻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USA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547747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$54,082.88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revenue · 4,358 units · 43 transactions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74633"/>
            <a:ext cx="29635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Monthly Sales Trends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277672"/>
            <a:ext cx="3774400" cy="3060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8061" y="4084320"/>
            <a:ext cx="172045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60k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278451" y="4149262"/>
            <a:ext cx="172045" cy="13644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58k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858842" y="4246674"/>
            <a:ext cx="172045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55k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5407621" y="4844460"/>
            <a:ext cx="235268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36.6k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019621" y="4019378"/>
            <a:ext cx="172045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62k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6568400" y="3603948"/>
            <a:ext cx="235268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74.8k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461171" y="327064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Peak Month: June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61171" y="3504486"/>
            <a:ext cx="377440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of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$74,794.70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driven by high volume (4,865 units) and the second-highest average price of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$15.37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171" y="38333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Lowest Month: April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61171" y="4067175"/>
            <a:ext cx="377440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Only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$36,590.68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just 28 transactions and 2,719 units sold, the fewest of any month.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013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Brand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50275"/>
            <a:ext cx="7556421" cy="1375529"/>
          </a:xfrm>
          <a:prstGeom prst="roundRect">
            <a:avLst>
              <a:gd name="adj" fmla="val 10636"/>
            </a:avLst>
          </a:prstGeom>
          <a:solidFill>
            <a:srgbClr val="1B1C1D"/>
          </a:solidFill>
          <a:ln w="30480">
            <a:solidFill>
              <a:srgbClr val="53545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3150275"/>
            <a:ext cx="121920" cy="13755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3407569"/>
            <a:ext cx="340399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🏆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Top Brand: Toblerone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390560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revenue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$118,291.29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4752618"/>
            <a:ext cx="7556421" cy="1375529"/>
          </a:xfrm>
          <a:prstGeom prst="roundRect">
            <a:avLst>
              <a:gd name="adj" fmla="val 10636"/>
            </a:avLst>
          </a:prstGeom>
          <a:solidFill>
            <a:srgbClr val="1B1C1D"/>
          </a:solidFill>
          <a:ln w="30480">
            <a:solidFill>
              <a:srgbClr val="5354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752618"/>
            <a:ext cx="121920" cy="13755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524" y="5009912"/>
            <a:ext cx="361199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📉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Lowest Brand: Hershey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42524" y="550795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Lowest revenue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$91,088.73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88668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 Type Performance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494365"/>
            <a:ext cx="335137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Best Performer: Chocolate Box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920728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of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$151,378.86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highest average price ($14.71) combined with the most units sold (10,291).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584263"/>
            <a:ext cx="387024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Lowest Performer: White Chocolate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43205" y="5010626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of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$105,892.55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second fewest units (7,763) and lowest average price ($13.64) dragged it below Dark Chocolate.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259"/>
            <a:ext cx="66920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Findings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4013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$89.9K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France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country by sales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58401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$74.8K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June Revenue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performing month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3610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$118.3K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Toblerone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55832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brand revenue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503610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$151.4K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Chocolate Box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55832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product type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Root Cause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April Slump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Only 28 transactions and 2,719 units — the lowest volume of any month caused the revenue dip.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June Surge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volume (4,865 units) + second-highest avg price ($15.37) = peak revenue month.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France Leads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 transactions and 6,410 units — more than any other country, despite a slightly lower avg price.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USA Lags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Only 43 transactions and 4,358 units — lowest engagement across all markets.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12307"/>
            <a:ext cx="6756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 &amp; Takeaways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368272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361248"/>
            <a:ext cx="42658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Focus on High-Volume Markets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285166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 France and replicate its transaction volume strategy in underperforming markets like the USA.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4038124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031099"/>
            <a:ext cx="3126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Boost April Campaigns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452151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transactions in April signal a need for targeted promotions to stimulate demand.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00" y="5707975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5700951"/>
            <a:ext cx="4656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Double Down on Chocolate Boxes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61913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highest revenue product — expand distribution and visibility across all channels.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2026-04-12T17:36:05Z</dcterms:created>
  <dcterms:modified xsi:type="dcterms:W3CDTF">2026-04-12T17:36:05Z</dcterms:modified>
</cp:coreProperties>
</file>